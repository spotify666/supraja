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3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4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global medical tourism cases</c:v>
                </c:pt>
              </c:strCache>
            </c:strRef>
          </c:tx>
          <c:spPr>
            <a:solidFill>
              <a:srgbClr val="1F8A73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Cosmetic</c:v>
                  </c:pt>
                  <c:pt idx="1">
                    <c:v>Dental</c:v>
                  </c:pt>
                  <c:pt idx="2">
                    <c:v>Fertility</c:v>
                  </c:pt>
                  <c:pt idx="3">
                    <c:v>Orthopedic</c:v>
                  </c:pt>
                  <c:pt idx="4">
                    <c:v>Ophthalmic</c:v>
                  </c:pt>
                  <c:pt idx="5">
                    <c:v>Cardiac</c:v>
                  </c:pt>
                  <c:pt idx="6">
                    <c:v>Bariatric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</c:v>
                </c:pt>
                <c:pt idx="1">
                  <c:v>15</c:v>
                </c:pt>
                <c:pt idx="2">
                  <c:v>12</c:v>
                </c:pt>
                <c:pt idx="3">
                  <c:v>10</c:v>
                </c:pt>
                <c:pt idx="4">
                  <c:v>10</c:v>
                </c:pt>
                <c:pt idx="5">
                  <c:v>8</c:v>
                </c:pt>
                <c:pt idx="6">
                  <c:v>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0F5C5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2.04</c:v>
                </c:pt>
                <c:pt idx="1">
                  <c:v>9.3</c:v>
                </c:pt>
                <c:pt idx="2">
                  <c:v>17.7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solidFill>
              <a:srgbClr val="C6A15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-0.2</c:v>
                </c:pt>
                <c:pt idx="1">
                  <c:v>1.68</c:v>
                </c:pt>
                <c:pt idx="2">
                  <c:v>4.61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1E7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Calibri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contribution per patient (₹ lakh)</c:v>
                </c:pt>
              </c:strCache>
            </c:strRef>
          </c:tx>
          <c:spPr>
            <a:solidFill>
              <a:srgbClr val="1F8A73"/>
            </a:solidFill>
            <a:effectLst/>
          </c:spPr>
          <c:invertIfNegative val="0"/>
          <c:dLbls>
            <c:numFmt formatCode="&quot;₹&quot;0.00&quot; L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Facilitator-Sourced</c:v>
                  </c:pt>
                  <c:pt idx="1">
                    <c:v>Institutional-Sourced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1.96</c:v>
                </c:pt>
                <c:pt idx="1">
                  <c:v>3.46</c:v>
                </c:pt>
              </c:numCache>
            </c:numRef>
          </c:val>
        </c:ser>
        <c:dLbls>
          <c:numFmt formatCode="&quot;₹&quot;0.00&quot; L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5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3-Year EBITDA (₹ Cr)</c:v>
                </c:pt>
              </c:strCache>
            </c:strRef>
          </c:tx>
          <c:spPr>
            <a:solidFill>
              <a:srgbClr val="C6A15B"/>
            </a:solidFill>
            <a:effectLst/>
          </c:spPr>
          <c:invertIfNegative val="0"/>
          <c:dLbls>
            <c:numFmt formatCode="&quot;₹&quot;0.00&quot; Cr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1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Conservative</c:v>
                  </c:pt>
                  <c:pt idx="1">
                    <c:v>Base</c:v>
                  </c:pt>
                  <c:pt idx="2">
                    <c:v>Optimistic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0.19</c:v>
                </c:pt>
                <c:pt idx="1">
                  <c:v>6.09</c:v>
                </c:pt>
                <c:pt idx="2">
                  <c:v>11.31</c:v>
                </c:pt>
              </c:numCache>
            </c:numRef>
          </c:val>
        </c:ser>
        <c:dLbls>
          <c:numFmt formatCode="&quot;₹&quot;0.00&quot; Cr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1A1A1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1.png"/><Relationship Id="rId3" Type="http://schemas.openxmlformats.org/officeDocument/2006/relationships/image" Target="../media/image-1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F5C5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C6A15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STAKEHOLDER BRIEFING IN THREE PARTS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102412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Tourism: The Industry, Our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Plan, and the Uganda Opportunity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201168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033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37033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399592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Market, technicalities, permissions, competitors, financials, scope and how this business expands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45312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445312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Plan of Action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4745736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generic, repeatable methodology and timeline — built before any single country enters the conversation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202936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5202936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Uganda Opportunity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549554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assessed on its own merits first — then the specific advantage we bring to it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A7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Dhanturi Group Enterprise  ·  Hyderabad, India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in One Page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0B3D3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Supraja Hospitals can build a defensible, high-margin international patient pipeline — anchored by a real Uganda government relationship and Dhanturi Group hospitality that no competitor in this field can replicate.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9052" y="3246120"/>
            <a:ext cx="585216" cy="585216"/>
          </a:xfrm>
          <a:prstGeom prst="ellipse">
            <a:avLst/>
          </a:prstGeom>
          <a:solidFill>
            <a:srgbClr val="0F5C52"/>
          </a:solidFill>
          <a:ln/>
        </p:spPr>
      </p:sp>
      <p:pic>
        <p:nvPicPr>
          <p:cNvPr id="8" name="Image 0" descr="/home/claude/deck/icons/tren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056" y="3325124"/>
            <a:ext cx="427208" cy="427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977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42702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$7–13B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31520" y="48920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medical tourism market; global market $31B+ and growing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410712" y="29718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21124" y="3246120"/>
            <a:ext cx="585216" cy="585216"/>
          </a:xfrm>
          <a:prstGeom prst="ellipse">
            <a:avLst/>
          </a:prstGeom>
          <a:solidFill>
            <a:srgbClr val="0F5C52"/>
          </a:solidFill>
          <a:ln/>
        </p:spPr>
      </p:sp>
      <p:pic>
        <p:nvPicPr>
          <p:cNvPr id="14" name="Image 1" descr="/home/claude/deck/icons/handshak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0128" y="3325124"/>
            <a:ext cx="427208" cy="4272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47872" y="3977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EDGE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502152" y="42702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Unmatched Assets</a:t>
            </a:r>
            <a:endParaRPr lang="en-US" sz="1900" dirty="0"/>
          </a:p>
        </p:txBody>
      </p:sp>
      <p:sp>
        <p:nvSpPr>
          <p:cNvPr id="17" name="Text 13"/>
          <p:cNvSpPr/>
          <p:nvPr/>
        </p:nvSpPr>
        <p:spPr>
          <a:xfrm>
            <a:off x="3593592" y="48920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Uganda government relationship + Dhanturi Group hospitality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272784" y="29718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283196" y="3246120"/>
            <a:ext cx="585216" cy="585216"/>
          </a:xfrm>
          <a:prstGeom prst="ellipse">
            <a:avLst/>
          </a:prstGeom>
          <a:solidFill>
            <a:srgbClr val="0F5C52"/>
          </a:solidFill>
          <a:ln/>
        </p:spPr>
      </p:sp>
      <p:pic>
        <p:nvPicPr>
          <p:cNvPr id="20" name="Image 2" descr="/home/claude/deck/icons/compas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2200" y="3325124"/>
            <a:ext cx="427208" cy="4272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9944" y="3977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364224" y="42702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 Months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6455664" y="48920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phased, disciplined build — accreditation first, institutional access last</a:t>
            </a:r>
            <a:endParaRPr lang="en-US" sz="980" dirty="0"/>
          </a:p>
        </p:txBody>
      </p:sp>
      <p:sp>
        <p:nvSpPr>
          <p:cNvPr id="24" name="Shape 19"/>
          <p:cNvSpPr/>
          <p:nvPr/>
        </p:nvSpPr>
        <p:spPr>
          <a:xfrm>
            <a:off x="9134856" y="2971800"/>
            <a:ext cx="2606040" cy="3063240"/>
          </a:xfrm>
          <a:prstGeom prst="roundRect">
            <a:avLst>
              <a:gd name="adj" fmla="val 2807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0145268" y="3246120"/>
            <a:ext cx="585216" cy="585216"/>
          </a:xfrm>
          <a:prstGeom prst="ellipse">
            <a:avLst/>
          </a:prstGeom>
          <a:solidFill>
            <a:srgbClr val="0F5C52"/>
          </a:solidFill>
          <a:ln/>
        </p:spPr>
      </p:sp>
      <p:pic>
        <p:nvPicPr>
          <p:cNvPr id="26" name="Image 3" descr="/home/claude/deck/icons/mone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4272" y="3325124"/>
            <a:ext cx="427208" cy="4272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72016" y="39776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9226296" y="4270248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₹6.1 Cr EBITDA</a:t>
            </a:r>
            <a:endParaRPr lang="en-US" sz="1900" dirty="0"/>
          </a:p>
        </p:txBody>
      </p:sp>
      <p:sp>
        <p:nvSpPr>
          <p:cNvPr id="29" name="Text 23"/>
          <p:cNvSpPr/>
          <p:nvPr/>
        </p:nvSpPr>
        <p:spPr>
          <a:xfrm>
            <a:off x="9317736" y="48920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cumulative, on ₹1.4 Cr invested — break-even by Month 22</a:t>
            </a:r>
            <a:endParaRPr lang="en-US" sz="980" dirty="0"/>
          </a:p>
        </p:txBody>
      </p:sp>
      <p:sp>
        <p:nvSpPr>
          <p:cNvPr id="30" name="Text 24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follows: the industry, in full — then our plan — then why Uganda, and why us.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Medical Tourism, Precisely?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64792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Tourism (also “medical travel,” “health tourism,” or “medical value travel / MVT”)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of travelling across an international border specifically to receive medical treatment — typically for lower cost, shorter waiting times, or access to care unavailable at home.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6492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practitioners increasingly prefer “medical value travel” over “tourism” — it signals a deliberate healthcare decision, not a leisure trip with a procedure attached.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60920" y="1600200"/>
            <a:ext cx="4279392" cy="4434840"/>
          </a:xfrm>
          <a:prstGeom prst="roundRect">
            <a:avLst>
              <a:gd name="adj" fmla="val 1709"/>
            </a:avLst>
          </a:prstGeom>
          <a:solidFill>
            <a:srgbClr val="0B3D39"/>
          </a:solidFill>
          <a:ln/>
        </p:spPr>
      </p:sp>
      <p:sp>
        <p:nvSpPr>
          <p:cNvPr id="9" name="Text 7"/>
          <p:cNvSpPr/>
          <p:nvPr/>
        </p:nvSpPr>
        <p:spPr>
          <a:xfrm>
            <a:off x="7635240" y="1828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DIRECTIONS OF FLOW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35240" y="22402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medical tourism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35240" y="254203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patients travelling into a country for care. This is the opportunity we're evaluating — India as the destination, a priority source country still to be discussed.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35240" y="3474720"/>
            <a:ext cx="3749040" cy="0"/>
          </a:xfrm>
          <a:prstGeom prst="line">
            <a:avLst/>
          </a:prstGeom>
          <a:noFill/>
          <a:ln w="12700">
            <a:solidFill>
              <a:srgbClr val="1F6E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35240" y="3611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medical tourism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635240" y="391363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patients travelling elsewhere for care — the reason many source-country referral systems exist in the first place, as we'll see later.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35240" y="4800600"/>
            <a:ext cx="3749040" cy="0"/>
          </a:xfrm>
          <a:prstGeom prst="line">
            <a:avLst/>
          </a:prstGeom>
          <a:noFill/>
          <a:ln w="12700">
            <a:solidFill>
              <a:srgbClr val="1F6E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493776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term: Wellness tourism — travel for preventive/lifestyle wellbeing, not treatment of a diagnosed condition. A distinct, adjacent industry.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$31 Billion Global Industry, With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Distinct National Specialities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457200"/>
          </a:xfrm>
          <a:prstGeom prst="rect">
            <a:avLst/>
          </a:prstGeom>
          <a:solidFill>
            <a:srgbClr val="0B3D3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474720" y="1828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For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Savings vs. US/UK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Turkey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· hair transplant · cosmetic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595360" y="2286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50–75% lower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1064240" cy="457200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7432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Cosmetic surgery · wellness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0" y="27432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50–70% lower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solidFill>
            <a:srgbClr val="EFE3C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2004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· orthopedic · oncology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9536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60–85% lower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11064240" cy="457200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657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747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 · bariatric · cosmetic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9536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40–65% lower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11064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4114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cosmetic · dermatology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95360" y="4114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30–50% lower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800600"/>
            <a:ext cx="2583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$31B+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40080" y="5276088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market, 2024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14700" y="4800600"/>
            <a:ext cx="2583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$7–13B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406140" y="5276088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market size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4800600"/>
            <a:ext cx="2583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130,000+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172200" y="5276088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arrivals to India, Jan–Apr 2025 alone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46820" y="4800600"/>
            <a:ext cx="25831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938260" y="5276088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rank for Nigerian patients — ahead of UK &amp; US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Patients Actually Travel For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52360" y="1691640"/>
            <a:ext cx="4187952" cy="4206240"/>
          </a:xfrm>
          <a:prstGeom prst="roundRect">
            <a:avLst>
              <a:gd name="adj" fmla="val 1747"/>
            </a:avLst>
          </a:prstGeom>
          <a:solidFill>
            <a:srgbClr val="0B3D39"/>
          </a:solidFill>
          <a:ln/>
        </p:spPr>
      </p:sp>
      <p:sp>
        <p:nvSpPr>
          <p:cNvPr id="6" name="Text 3"/>
          <p:cNvSpPr/>
          <p:nvPr/>
        </p:nvSpPr>
        <p:spPr>
          <a:xfrm>
            <a:off x="7726680" y="1920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SPECIALISES DIFFERENTLY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26680" y="22860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Turkey and Thailand's cosmetic/dental-led volumes, India built its reputation on complex, high-acuity medicine: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726680" y="3172968"/>
            <a:ext cx="91440" cy="9144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9" name="Text 6"/>
          <p:cNvSpPr/>
          <p:nvPr/>
        </p:nvSpPr>
        <p:spPr>
          <a:xfrm>
            <a:off x="7936992" y="30358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surgery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26680" y="3630168"/>
            <a:ext cx="91440" cy="9144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1" name="Text 8"/>
          <p:cNvSpPr/>
          <p:nvPr/>
        </p:nvSpPr>
        <p:spPr>
          <a:xfrm>
            <a:off x="7936992" y="34930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 surgery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26680" y="4087368"/>
            <a:ext cx="91440" cy="9144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3" name="Text 10"/>
          <p:cNvSpPr/>
          <p:nvPr/>
        </p:nvSpPr>
        <p:spPr>
          <a:xfrm>
            <a:off x="7936992" y="39502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26680" y="4544568"/>
            <a:ext cx="91440" cy="91440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5" name="Text 12"/>
          <p:cNvSpPr/>
          <p:nvPr/>
        </p:nvSpPr>
        <p:spPr>
          <a:xfrm>
            <a:off x="7936992" y="440740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 transplant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726680" y="5074920"/>
            <a:ext cx="3383280" cy="0"/>
          </a:xfrm>
          <a:prstGeom prst="line">
            <a:avLst/>
          </a:prstGeom>
          <a:noFill/>
          <a:ln w="12700">
            <a:solidFill>
              <a:srgbClr val="1F6E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26680" y="52120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precisely the specialty mix our hospital already runs — a direct fit, not a stretch.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Vocabulary You'll Hear in Every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 From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20116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Facilitator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49808" y="237744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intermediary connecting patients with hospitals and arranging travel, visas, and accommodation — typically paid a commission by the hospital.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4343400" y="1874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44568" y="20116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44568" y="237744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Patient Department — the hospital's dedicated unit for coordinating foreign patients end to end.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8138160" y="18745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01168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vs. Destination Country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39328" y="2377440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= where the patient lives. Destination = where treatment happens.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35478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8503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Accreditation (NABH / JCI)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49808" y="4050792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quality certifications that signal a hospital meets international-grade safety and care standards.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343400" y="35478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44568" y="368503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e-Medical Visa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44568" y="4050792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dedicated visa category for foreign patients (plus one attendant visa each for up to two companions).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138160" y="35478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3685032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Package / Bundled Pricing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339328" y="4050792"/>
            <a:ext cx="311810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3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all-inclusive quoted price covering procedure and stay — the industry-standard way international patients are quoted.</a:t>
            </a:r>
            <a:endParaRPr lang="en-US" sz="103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Players Make This Industry 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240280"/>
            <a:ext cx="585216" cy="585216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6" name="Image 0" descr="/home/claude/deck/icons/hospital_dark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876" y="2319284"/>
            <a:ext cx="427208" cy="427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Hospital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3611880"/>
            <a:ext cx="168249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care, accreditation, pricing, and the invitation letter that starts the visa process.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2761488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2240280"/>
            <a:ext cx="585216" cy="585216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1" name="Image 1" descr="/home/claude/deck/icons/handshake_dark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724" y="2319284"/>
            <a:ext cx="427208" cy="427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8648" y="3017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Facilitator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926080" y="3611880"/>
            <a:ext cx="168249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and screens patients, negotiates on their behalf — for a commission (typically 7.5–30%).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4974336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87568" y="2240280"/>
            <a:ext cx="585216" cy="585216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6" name="Image 2" descr="/home/claude/deck/icons/hotel_dark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572" y="2319284"/>
            <a:ext cx="427208" cy="427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11496" y="3017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Partner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138928" y="3611880"/>
            <a:ext cx="168249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 and post-op accommodation for patient and attendant — often the most overlooked link.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7187184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00416" y="2240280"/>
            <a:ext cx="585216" cy="585216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21" name="Image 3" descr="/home/claude/deck/icons/passport_darkte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420" y="2319284"/>
            <a:ext cx="427208" cy="427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4344" y="3017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Visa &amp; Immigration Authority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351776" y="3611880"/>
            <a:ext cx="168249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the e-medical visa based on the hospital's documentation.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9400032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113264" y="2240280"/>
            <a:ext cx="585216" cy="585216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26" name="Image 4" descr="/home/claude/deck/icons/money_darktea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268" y="2319284"/>
            <a:ext cx="427208" cy="4272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37192" y="30175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Insurer / Payer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9564624" y="3611880"/>
            <a:ext cx="1682496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schemes, private insurance, or self-pay — increasingly with direct-billing arrangements.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and Dhanturi Group's hotels can natively own three of these five roles — a structural advantage over any single-role competitor.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Technicalities: How a Patient Actually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Moves Through the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148840"/>
            <a:ext cx="457200" cy="45720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6" name="Image 0" descr="/home/claude/deck/icons/passpor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94" y="2210562"/>
            <a:ext cx="333756" cy="3337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11880" y="202996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697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 &amp; Records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4672" y="303580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reports received; remote specialist review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43400" y="19202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2148840"/>
            <a:ext cx="457200" cy="45720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12" name="Image 1" descr="/home/claude/deck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154" y="2210562"/>
            <a:ext cx="333756" cy="3337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02996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99432" y="2697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Letter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599432" y="303580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issues letter; e-medical visa applied for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138160" y="19202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94192" y="2148840"/>
            <a:ext cx="457200" cy="45720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18" name="Image 2" descr="/home/claude/deck/icons/pla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5914" y="2210562"/>
            <a:ext cx="333756" cy="3337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201400" y="202996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394192" y="26974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Arrival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8394192" y="303580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pickup; pre-admission workup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37490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4672" y="3977640"/>
            <a:ext cx="457200" cy="45720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24" name="Image 3" descr="/home/claude/deck/icons/stethoscop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94" y="4039362"/>
            <a:ext cx="333756" cy="33375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11880" y="385876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04672" y="45262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04672" y="486460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Procedure, inpatient stay, discharge planning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343400" y="37490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99432" y="3977640"/>
            <a:ext cx="457200" cy="45720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30" name="Image 4" descr="/home/claude/deck/icons/be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154" y="4039362"/>
            <a:ext cx="333756" cy="3337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406640" y="385876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599432" y="45262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Stay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4599432" y="486460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and rest before travel home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8138160" y="374904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394192" y="3977640"/>
            <a:ext cx="457200" cy="45720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36" name="Image 5" descr="/home/claude/deck/icons/heartbeat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5914" y="4039362"/>
            <a:ext cx="333756" cy="3337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1201400" y="385876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0"/>
          <p:cNvSpPr/>
          <p:nvPr/>
        </p:nvSpPr>
        <p:spPr>
          <a:xfrm>
            <a:off x="8394192" y="45262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8394192" y="486460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teleconsultations after return home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Accreditation: The Trust Signal That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Makes Everything Else Possible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6" name="Image 0" descr="/home/claude/deck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919" y="2366239"/>
            <a:ext cx="433883" cy="433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331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NABH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68680" y="3136392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9" name="Text 6"/>
          <p:cNvSpPr/>
          <p:nvPr/>
        </p:nvSpPr>
        <p:spPr>
          <a:xfrm>
            <a:off x="1078992" y="29718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national hospital accreditation body, under the Quality Council of India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822192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36576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ISQua-recognised — internationally benchmarked, not just a local rubber stamp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4507992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43434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1,700+ hospitals accredited nationally; the credential “Heal in India” promotes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5193792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50292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target for a 100-bed hospital: ~10–12 months, ₹90–150 lakh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9659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0B3D39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2286000"/>
            <a:ext cx="594360" cy="59436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8" name="Image 1" descr="/home/claude/deck/icons/certificat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199" y="2366239"/>
            <a:ext cx="433883" cy="43388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2331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JCI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537960" y="313639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1" name="Text 17"/>
          <p:cNvSpPr/>
          <p:nvPr/>
        </p:nvSpPr>
        <p:spPr>
          <a:xfrm>
            <a:off x="6748272" y="29718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Commission International — the higher, globally-branded accreditation tier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37960" y="382219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3" name="Text 19"/>
          <p:cNvSpPr/>
          <p:nvPr/>
        </p:nvSpPr>
        <p:spPr>
          <a:xfrm>
            <a:off x="6748272" y="36576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~63 hospitals in India hold it — materially higher cost and rigour than NABH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37960" y="450799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5" name="Text 21"/>
          <p:cNvSpPr/>
          <p:nvPr/>
        </p:nvSpPr>
        <p:spPr>
          <a:xfrm>
            <a:off x="6748272" y="43434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pursued after a hospital has proven, meaningful international volume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537960" y="519379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7" name="Text 23"/>
          <p:cNvSpPr/>
          <p:nvPr/>
        </p:nvSpPr>
        <p:spPr>
          <a:xfrm>
            <a:off x="6748272" y="502920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plan: a later-phase goal, not a Day-1 requirement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Permissions: What It Legally Takes to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a Foreign Patient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58568"/>
            <a:ext cx="548640" cy="54864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6" name="Image 0" descr="/home/claude/deck/icons/build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746" y="2332634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3134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Hospital-Side Permissions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3044952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" y="28895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Establishments Act / state registration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611880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11" name="Text 8"/>
          <p:cNvSpPr/>
          <p:nvPr/>
        </p:nvSpPr>
        <p:spPr>
          <a:xfrm>
            <a:off x="1024128" y="34564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AERB clearance for imaging equipment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4178808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13" name="Text 10"/>
          <p:cNvSpPr/>
          <p:nvPr/>
        </p:nvSpPr>
        <p:spPr>
          <a:xfrm>
            <a:off x="1024128" y="40233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pharmacy with a registered pharmacist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" y="4745736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15" name="Text 12"/>
          <p:cNvSpPr/>
          <p:nvPr/>
        </p:nvSpPr>
        <p:spPr>
          <a:xfrm>
            <a:off x="1024128" y="45902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&amp; biomedical waste management compliance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22960" y="5312664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17" name="Text 14"/>
          <p:cNvSpPr/>
          <p:nvPr/>
        </p:nvSpPr>
        <p:spPr>
          <a:xfrm>
            <a:off x="1024128" y="515721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/ JCI accreditation (the credibility layer above)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17920" y="1965960"/>
            <a:ext cx="5212080" cy="3977640"/>
          </a:xfrm>
          <a:prstGeom prst="roundRect">
            <a:avLst>
              <a:gd name="adj" fmla="val 1839"/>
            </a:avLst>
          </a:prstGeom>
          <a:solidFill>
            <a:srgbClr val="0B3D39"/>
          </a:solidFill>
          <a:ln/>
        </p:spPr>
      </p:sp>
      <p:sp>
        <p:nvSpPr>
          <p:cNvPr id="19" name="Shape 16"/>
          <p:cNvSpPr/>
          <p:nvPr/>
        </p:nvSpPr>
        <p:spPr>
          <a:xfrm>
            <a:off x="6537960" y="2258568"/>
            <a:ext cx="548640" cy="54864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20" name="Image 1" descr="/home/claude/deck/icons/passpor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026" y="2332634"/>
            <a:ext cx="400507" cy="400507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23760" y="231343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Patient-Side Permissions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492240" y="304495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3" name="Text 19"/>
          <p:cNvSpPr/>
          <p:nvPr/>
        </p:nvSpPr>
        <p:spPr>
          <a:xfrm>
            <a:off x="6693408" y="28895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letter + medical reports from home doctor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492240" y="3611880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5" name="Text 21"/>
          <p:cNvSpPr/>
          <p:nvPr/>
        </p:nvSpPr>
        <p:spPr>
          <a:xfrm>
            <a:off x="6693408" y="345643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invitation letter (signed, stamped, itemised)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492240" y="4178808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7" name="Text 23"/>
          <p:cNvSpPr/>
          <p:nvPr/>
        </p:nvSpPr>
        <p:spPr>
          <a:xfrm>
            <a:off x="6693408" y="40233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e-Medical Visa ("MED") + e-Medical Attendant Visa ("MED-X")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492240" y="4745736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9" name="Text 25"/>
          <p:cNvSpPr/>
          <p:nvPr/>
        </p:nvSpPr>
        <p:spPr>
          <a:xfrm>
            <a:off x="6693408" y="459028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fever vaccination card if arriving from an endemic country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92240" y="5312664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1" name="Text 27"/>
          <p:cNvSpPr/>
          <p:nvPr/>
        </p:nvSpPr>
        <p:spPr>
          <a:xfrm>
            <a:off x="6693408" y="5157216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FRRO registration &amp; biometric validation on arrival if stay extends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Competitive Field: Real Numbers, Not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32918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00200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GIANTS (FY25 FIGURES)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84248"/>
            <a:ext cx="3657600" cy="384048"/>
          </a:xfrm>
          <a:prstGeom prst="rect">
            <a:avLst/>
          </a:prstGeom>
          <a:solidFill>
            <a:srgbClr val="0B3D39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842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1984248"/>
            <a:ext cx="4023360" cy="384048"/>
          </a:xfrm>
          <a:prstGeom prst="rect">
            <a:avLst/>
          </a:prstGeom>
          <a:solidFill>
            <a:srgbClr val="0B3D39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984248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229600" y="1984248"/>
            <a:ext cx="3383280" cy="384048"/>
          </a:xfrm>
          <a:prstGeom prst="rect">
            <a:avLst/>
          </a:prstGeom>
          <a:solidFill>
            <a:srgbClr val="0B3D39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1984248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368296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6829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206240" y="2368296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368296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 hospitals · 8,050+ beds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8229600" y="2368296"/>
            <a:ext cx="3383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368296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₹21,794 Cr revenue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48640" y="2752344"/>
            <a:ext cx="365760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752344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Fortis Healthcare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206240" y="2752344"/>
            <a:ext cx="402336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752344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hospitals · 5,800 beds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229600" y="2752344"/>
            <a:ext cx="338328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2752344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₹7,783 Cr revenue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48640" y="3136392"/>
            <a:ext cx="36576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1363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Healthcare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4206240" y="3136392"/>
            <a:ext cx="4023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313639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hospitals · 3,454 beds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8229600" y="3136392"/>
            <a:ext cx="33832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66760" y="31363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₹7,028 Cr revenue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548640" y="3520440"/>
            <a:ext cx="365760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52044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Narayana Health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206240" y="3520440"/>
            <a:ext cx="402336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3520440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hospitals · 5,554 beds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229600" y="3520440"/>
            <a:ext cx="338328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3520440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₹5,483 Cr revenue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548640" y="4105656"/>
            <a:ext cx="11064240" cy="329184"/>
          </a:xfrm>
          <a:prstGeom prst="rect">
            <a:avLst/>
          </a:prstGeom>
          <a:solidFill>
            <a:srgbClr val="C6A15B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4105656"/>
            <a:ext cx="10789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— OUR ACTUAL LOCAL COMPETITION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489704"/>
            <a:ext cx="2926080" cy="384048"/>
          </a:xfrm>
          <a:prstGeom prst="rect">
            <a:avLst/>
          </a:prstGeom>
          <a:solidFill>
            <a:srgbClr val="0B3D39"/>
          </a:solidFill>
          <a:ln/>
        </p:spPr>
      </p:sp>
      <p:sp>
        <p:nvSpPr>
          <p:cNvPr id="39" name="Text 37"/>
          <p:cNvSpPr/>
          <p:nvPr/>
        </p:nvSpPr>
        <p:spPr>
          <a:xfrm>
            <a:off x="685800" y="4489704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474720" y="4489704"/>
            <a:ext cx="3108960" cy="384048"/>
          </a:xfrm>
          <a:prstGeom prst="rect">
            <a:avLst/>
          </a:prstGeom>
          <a:solidFill>
            <a:srgbClr val="0B3D39"/>
          </a:solidFill>
          <a:ln/>
        </p:spPr>
      </p:sp>
      <p:sp>
        <p:nvSpPr>
          <p:cNvPr id="41" name="Text 39"/>
          <p:cNvSpPr/>
          <p:nvPr/>
        </p:nvSpPr>
        <p:spPr>
          <a:xfrm>
            <a:off x="3611880" y="4489704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583680" y="4489704"/>
            <a:ext cx="5029200" cy="384048"/>
          </a:xfrm>
          <a:prstGeom prst="rect">
            <a:avLst/>
          </a:prstGeom>
          <a:solidFill>
            <a:srgbClr val="0B3D39"/>
          </a:solidFill>
          <a:ln/>
        </p:spPr>
      </p:sp>
      <p:sp>
        <p:nvSpPr>
          <p:cNvPr id="43" name="Text 41"/>
          <p:cNvSpPr/>
          <p:nvPr/>
        </p:nvSpPr>
        <p:spPr>
          <a:xfrm>
            <a:off x="6720840" y="4489704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Notes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48640" y="4873752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" y="4873752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KIMS Hospitals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3474720" y="4873752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1880" y="487375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hospitals nationally</a:t>
            </a:r>
            <a:endParaRPr lang="en-US" sz="1080" dirty="0"/>
          </a:p>
        </p:txBody>
      </p:sp>
      <p:sp>
        <p:nvSpPr>
          <p:cNvPr id="48" name="Shape 46"/>
          <p:cNvSpPr/>
          <p:nvPr/>
        </p:nvSpPr>
        <p:spPr>
          <a:xfrm>
            <a:off x="6583680" y="4873752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20840" y="4873752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8,300+ beds (1,000-bed Secunderabad flagship)</a:t>
            </a:r>
            <a:endParaRPr lang="en-US" sz="1080" dirty="0"/>
          </a:p>
        </p:txBody>
      </p:sp>
      <p:sp>
        <p:nvSpPr>
          <p:cNvPr id="50" name="Shape 48"/>
          <p:cNvSpPr/>
          <p:nvPr/>
        </p:nvSpPr>
        <p:spPr>
          <a:xfrm>
            <a:off x="548640" y="5257800"/>
            <a:ext cx="292608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5800" y="525780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Yashoda Hospitals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3474720" y="5257800"/>
            <a:ext cx="310896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11880" y="525780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Hyderabad hospitals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6583680" y="5257800"/>
            <a:ext cx="502920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720840" y="5257800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2,756 beds · decades-old dedicated IPD</a:t>
            </a:r>
            <a:endParaRPr lang="en-US" sz="1080" dirty="0"/>
          </a:p>
        </p:txBody>
      </p:sp>
      <p:sp>
        <p:nvSpPr>
          <p:cNvPr id="56" name="Shape 54"/>
          <p:cNvSpPr/>
          <p:nvPr/>
        </p:nvSpPr>
        <p:spPr>
          <a:xfrm>
            <a:off x="548640" y="564184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5800" y="5641848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Hyderabad</a:t>
            </a:r>
            <a:endParaRPr lang="en-US" sz="1080" dirty="0"/>
          </a:p>
        </p:txBody>
      </p:sp>
      <p:sp>
        <p:nvSpPr>
          <p:cNvPr id="58" name="Shape 56"/>
          <p:cNvSpPr/>
          <p:nvPr/>
        </p:nvSpPr>
        <p:spPr>
          <a:xfrm>
            <a:off x="3474720" y="5641848"/>
            <a:ext cx="31089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11880" y="564184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flagship, 1988</a:t>
            </a:r>
            <a:endParaRPr lang="en-US" sz="1080" dirty="0"/>
          </a:p>
        </p:txBody>
      </p:sp>
      <p:sp>
        <p:nvSpPr>
          <p:cNvPr id="60" name="Shape 58"/>
          <p:cNvSpPr/>
          <p:nvPr/>
        </p:nvSpPr>
        <p:spPr>
          <a:xfrm>
            <a:off x="6583680" y="5641848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720840" y="5641848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 beds · first JCI stroke-care certification in the world</a:t>
            </a:r>
            <a:endParaRPr lang="en-US" sz="1080" dirty="0"/>
          </a:p>
        </p:txBody>
      </p:sp>
      <p:sp>
        <p:nvSpPr>
          <p:cNvPr id="62" name="Shape 60"/>
          <p:cNvSpPr/>
          <p:nvPr/>
        </p:nvSpPr>
        <p:spPr>
          <a:xfrm>
            <a:off x="548640" y="6025896"/>
            <a:ext cx="292608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" y="6025896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Hospitals</a:t>
            </a:r>
            <a:endParaRPr lang="en-US" sz="1080" dirty="0"/>
          </a:p>
        </p:txBody>
      </p:sp>
      <p:sp>
        <p:nvSpPr>
          <p:cNvPr id="64" name="Shape 62"/>
          <p:cNvSpPr/>
          <p:nvPr/>
        </p:nvSpPr>
        <p:spPr>
          <a:xfrm>
            <a:off x="3474720" y="6025896"/>
            <a:ext cx="310896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11880" y="6025896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IHH Healthcare</a:t>
            </a:r>
            <a:endParaRPr lang="en-US" sz="1080" dirty="0"/>
          </a:p>
        </p:txBody>
      </p:sp>
      <p:sp>
        <p:nvSpPr>
          <p:cNvPr id="66" name="Shape 64"/>
          <p:cNvSpPr/>
          <p:nvPr/>
        </p:nvSpPr>
        <p:spPr>
          <a:xfrm>
            <a:off x="6583680" y="6025896"/>
            <a:ext cx="5029200" cy="384048"/>
          </a:xfrm>
          <a:prstGeom prst="rect">
            <a:avLst/>
          </a:prstGeom>
          <a:solidFill>
            <a:srgbClr val="F7F9F8"/>
          </a:solidFill>
          <a:ln w="6350">
            <a:solidFill>
              <a:srgbClr val="E1E7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20840" y="6025896"/>
            <a:ext cx="4800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hospitals, 16,000+ beds, across 10 countries</a:t>
            </a:r>
            <a:endParaRPr lang="en-US" sz="1080" dirty="0"/>
          </a:p>
        </p:txBody>
      </p:sp>
      <p:sp>
        <p:nvSpPr>
          <p:cNvPr id="68" name="Text 6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Financials: What This Business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Actually Earns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PACKAGE PRICING BY SPECIALTY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surgery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343400" y="25146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Orthopedic joint replacement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343400" y="292608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$6,500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3337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(surgical + adjuvant)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43400" y="333756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3749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/ transplant workup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343400" y="37490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$16,000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41605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/ diagnostic-led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43400" y="416052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B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$3,500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4617720"/>
            <a:ext cx="4846320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7548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commission: 7.5–30% of package value, industry-wide range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77240" y="51937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accreditation investment: ₹90–150 lakh, one-time cost of entry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126480" y="1920240"/>
            <a:ext cx="5513832" cy="3931920"/>
          </a:xfrm>
          <a:prstGeom prst="roundRect">
            <a:avLst>
              <a:gd name="adj" fmla="val 1860"/>
            </a:avLst>
          </a:prstGeom>
          <a:solidFill>
            <a:srgbClr val="0B3D39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2103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spc="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ARPOB IS RISING — AND MEDICAL TOURISM IS PART OF WHY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6517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Per Occupied Bed (ARPOB), FY25 YoY, for listed Indian hospital chains: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55080" y="3200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Fortis Healthcare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2396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₹66,301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195560" y="3200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 YoY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36576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Hospitals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23960" y="3657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₹60,588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195560" y="36576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55080" y="4114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KIMS Hospitals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23960" y="4114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₹39,158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95560" y="41148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i="1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 YoY — highest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355080" y="4617720"/>
            <a:ext cx="5029200" cy="0"/>
          </a:xfrm>
          <a:prstGeom prst="line">
            <a:avLst/>
          </a:prstGeom>
          <a:noFill/>
          <a:ln w="12700">
            <a:solidFill>
              <a:srgbClr val="1F6E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77316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80" i="1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analysts attribute the jump specifically to rising insurance coverage and increased medical tourism volumes across major chains.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· THE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Medical Tourism Businesses Scale: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Corridor by Corridor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6" name="Image 0" descr="/home/claude/deck/icons/building_dark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026" y="2314346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22860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IHH Healthcare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261518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(parent of Hyderabad's Continental Hospitals)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3017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84 hospitals and 16,000+ beds across 10 countries — proof that a healthcare group can scale a single trusted model across many geographies, one at a time.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22960" y="4297680"/>
            <a:ext cx="4846320" cy="0"/>
          </a:xfrm>
          <a:prstGeom prst="line">
            <a:avLst/>
          </a:prstGeom>
          <a:noFill/>
          <a:ln w="12700">
            <a:solidFill>
              <a:srgbClr val="1F6E6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4348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Shalby Hospitals, an Indian chain, has built a physical presence across several East African countries — replicating the same clinical model market by market.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965960"/>
            <a:ext cx="5513832" cy="3566160"/>
          </a:xfrm>
          <a:prstGeom prst="roundRect">
            <a:avLst>
              <a:gd name="adj" fmla="val 2051"/>
            </a:avLst>
          </a:prstGeom>
          <a:solidFill>
            <a:srgbClr val="C6A15B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1945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B3D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PATTERN, GENERALISED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5508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66560" y="267004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2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model in one corridor first — accreditation, one channel, disciplined unit economics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355080" y="33649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766560" y="33832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2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that corridor fund and validate the playbook before touching a second market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355080" y="40782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66560" y="409651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2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the same sequence — not a new invention each time — in adjacent geographies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355080" y="4791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766560" y="480974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2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is a byproduct of discipline in the first market, not a separate initiative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F5C5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C6A15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Plan of Action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7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methodology, timeline, and governance model — built before any single country enters the conversation.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OUR PLAN OF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Methodology, Repeatable in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Corridor We Choose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four-phase sequence, applied to whichever corridor we prioritise: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3337560"/>
            <a:ext cx="2148840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47472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gap analysis begins. IPD owner appointed. Transparent pricing drafted. Priority-corridor research and relationship-mapping begins.</a:t>
            </a:r>
            <a:endParaRPr lang="en-US" sz="1060" dirty="0"/>
          </a:p>
        </p:txBody>
      </p:sp>
      <p:pic>
        <p:nvPicPr>
          <p:cNvPr id="10" name="Image 0" descr="/home/claude/deck/icons/arrow_right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2968" y="3685032"/>
            <a:ext cx="219456" cy="219456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55848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84448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584448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Pilot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584448" y="3337560"/>
            <a:ext cx="2148840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84448" y="347472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facilitator agreements signed in the priority corridor. Real patients treated. Full patient-journey SOP tested end to end.</a:t>
            </a:r>
            <a:endParaRPr lang="en-US" sz="1060" dirty="0"/>
          </a:p>
        </p:txBody>
      </p:sp>
      <p:pic>
        <p:nvPicPr>
          <p:cNvPr id="16" name="Image 1" descr="/home/claude/deck/icons/arrow_right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76" y="3685032"/>
            <a:ext cx="219456" cy="2194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163056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91656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391656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Accreditation Lock-In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391656" y="3337560"/>
            <a:ext cx="2148840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91656" y="347472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on-site assessment completed and awarded. IPD fully staffed. Listed on the Heal in India portal.</a:t>
            </a:r>
            <a:endParaRPr lang="en-US" sz="1060" dirty="0"/>
          </a:p>
        </p:txBody>
      </p:sp>
      <p:pic>
        <p:nvPicPr>
          <p:cNvPr id="22" name="Image 2" descr="/home/claude/deck/icons/arrow_righ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384" y="3685032"/>
            <a:ext cx="219456" cy="219456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970264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98864" y="237744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198864" y="26517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Activation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9198864" y="3337560"/>
            <a:ext cx="2148840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9198864" y="347472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06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engagement with the priority corridor's health authorities and referral hospitals. MoU or listed-provider status negotiated.</a:t>
            </a:r>
            <a:endParaRPr lang="en-US" sz="1060" dirty="0"/>
          </a:p>
        </p:txBody>
      </p:sp>
      <p:sp>
        <p:nvSpPr>
          <p:cNvPr id="28" name="Text 23"/>
          <p:cNvSpPr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Scale &amp; Diversify: JCI evaluation, a light-touch presence in the priority corridor, and replication of the same playbook in adjacent markets.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OUR PLAN OF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Disciplined, 36-Month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830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0–3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651760" y="17830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Foundations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852160" y="1783080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engagement begins; IPD ownership assigned; pricing drafted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3–9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51760" y="2624328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Channel Pilot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0" y="2624328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patients treated via a facilitator channel; SOP proven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465576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9–15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51760" y="3465576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Accreditation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852160" y="3465576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 awarded; IPD fully staffed; Heal in India listing secured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06824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15–24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4306824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Institutional Activation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852160" y="4306824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government/referral-hospital engagement in the priority corridor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48072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Months 24–36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651760" y="5148072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Scale &amp; Diversify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52160" y="514807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JCI evaluated; playbook replicated in a second corridor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OUR PLAN OF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Price of Credibility: Time and Capital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F5C5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29900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months</a:t>
            </a:r>
            <a:endParaRPr lang="en-US" sz="1100" dirty="0"/>
          </a:p>
        </p:txBody>
      </p:sp>
      <p:pic>
        <p:nvPicPr>
          <p:cNvPr id="9" name="Image 0" descr="/home/claude/deck/icons/arrow_righ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4952" y="2404872"/>
            <a:ext cx="201168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73552" y="16916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02152" y="1920240"/>
            <a:ext cx="502920" cy="502920"/>
          </a:xfrm>
          <a:prstGeom prst="ellipse">
            <a:avLst/>
          </a:prstGeom>
          <a:solidFill>
            <a:srgbClr val="0F5C52"/>
          </a:solidFill>
          <a:ln/>
        </p:spPr>
      </p:sp>
      <p:sp>
        <p:nvSpPr>
          <p:cNvPr id="12" name="Text 9"/>
          <p:cNvSpPr/>
          <p:nvPr/>
        </p:nvSpPr>
        <p:spPr>
          <a:xfrm>
            <a:off x="3502152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456432" y="2560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SOPs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3456432" y="29900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months</a:t>
            </a:r>
            <a:endParaRPr lang="en-US" sz="1100" dirty="0"/>
          </a:p>
        </p:txBody>
      </p:sp>
      <p:pic>
        <p:nvPicPr>
          <p:cNvPr id="15" name="Image 1" descr="/home/claude/deck/icons/arrow_right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9864" y="2404872"/>
            <a:ext cx="201168" cy="2011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998464" y="16916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27064" y="1920240"/>
            <a:ext cx="502920" cy="502920"/>
          </a:xfrm>
          <a:prstGeom prst="ellipse">
            <a:avLst/>
          </a:prstGeom>
          <a:solidFill>
            <a:srgbClr val="0F5C52"/>
          </a:solidFill>
          <a:ln/>
        </p:spPr>
      </p:sp>
      <p:sp>
        <p:nvSpPr>
          <p:cNvPr id="18" name="Text 14"/>
          <p:cNvSpPr/>
          <p:nvPr/>
        </p:nvSpPr>
        <p:spPr>
          <a:xfrm>
            <a:off x="6227064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5"/>
          <p:cNvSpPr/>
          <p:nvPr/>
        </p:nvSpPr>
        <p:spPr>
          <a:xfrm>
            <a:off x="6181344" y="2560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Training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6181344" y="29900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months</a:t>
            </a:r>
            <a:endParaRPr lang="en-US" sz="1100" dirty="0"/>
          </a:p>
        </p:txBody>
      </p:sp>
      <p:pic>
        <p:nvPicPr>
          <p:cNvPr id="21" name="Image 2" descr="/home/claude/deck/icons/arrow_right_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776" y="2404872"/>
            <a:ext cx="201168" cy="20116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8723376" y="169164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951976" y="1920240"/>
            <a:ext cx="502920" cy="502920"/>
          </a:xfrm>
          <a:prstGeom prst="ellipse">
            <a:avLst/>
          </a:prstGeom>
          <a:solidFill>
            <a:srgbClr val="0F5C52"/>
          </a:solidFill>
          <a:ln/>
        </p:spPr>
      </p:sp>
      <p:sp>
        <p:nvSpPr>
          <p:cNvPr id="24" name="Text 19"/>
          <p:cNvSpPr/>
          <p:nvPr/>
        </p:nvSpPr>
        <p:spPr>
          <a:xfrm>
            <a:off x="8951976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0"/>
          <p:cNvSpPr/>
          <p:nvPr/>
        </p:nvSpPr>
        <p:spPr>
          <a:xfrm>
            <a:off x="8906256" y="25603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Award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906256" y="299008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months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374904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0B3D39"/>
          </a:solidFill>
          <a:ln/>
        </p:spPr>
      </p:sp>
      <p:sp>
        <p:nvSpPr>
          <p:cNvPr id="28" name="Text 23"/>
          <p:cNvSpPr/>
          <p:nvPr/>
        </p:nvSpPr>
        <p:spPr>
          <a:xfrm>
            <a:off x="548640" y="3977640"/>
            <a:ext cx="2766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10–12 months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685800" y="4572000"/>
            <a:ext cx="2491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total timeline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3314700" y="3977640"/>
            <a:ext cx="2766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₹90–150 lakh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3451860" y="4572000"/>
            <a:ext cx="2491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accreditation investment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080760" y="3977640"/>
            <a:ext cx="2766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1,700+</a:t>
            </a:r>
            <a:endParaRPr lang="en-US" sz="2400" dirty="0"/>
          </a:p>
        </p:txBody>
      </p:sp>
      <p:sp>
        <p:nvSpPr>
          <p:cNvPr id="33" name="Text 28"/>
          <p:cNvSpPr/>
          <p:nvPr/>
        </p:nvSpPr>
        <p:spPr>
          <a:xfrm>
            <a:off x="6217920" y="4572000"/>
            <a:ext cx="2491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NABH-accredited hospitals nationally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846820" y="3977640"/>
            <a:ext cx="27660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2–3 yrs</a:t>
            </a:r>
            <a:endParaRPr lang="en-US" sz="2400" dirty="0"/>
          </a:p>
        </p:txBody>
      </p:sp>
      <p:sp>
        <p:nvSpPr>
          <p:cNvPr id="35" name="Text 30"/>
          <p:cNvSpPr/>
          <p:nvPr/>
        </p:nvSpPr>
        <p:spPr>
          <a:xfrm>
            <a:off x="8983980" y="4572000"/>
            <a:ext cx="24917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Accreditation validity period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JCI accreditation is a later-phase goal, pursued once volume justifies its materially higher cost — not a launch requirement.</a:t>
            </a:r>
            <a:endParaRPr lang="en-US" sz="1150" dirty="0"/>
          </a:p>
        </p:txBody>
      </p:sp>
      <p:sp>
        <p:nvSpPr>
          <p:cNvPr id="37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38" name="Text 3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OUR PLAN OF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Go-To-Market: Two Channel Types, One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Outlast the Other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594360" cy="594360"/>
          </a:xfrm>
          <a:prstGeom prst="ellipse">
            <a:avLst/>
          </a:prstGeom>
          <a:solidFill>
            <a:srgbClr val="6B7280"/>
          </a:solidFill>
          <a:ln/>
        </p:spPr>
      </p:sp>
      <p:pic>
        <p:nvPicPr>
          <p:cNvPr id="6" name="Image 0" descr="/home/claude/deck/icons/mon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919" y="2366239"/>
            <a:ext cx="433883" cy="433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331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Facilitator Channel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3090672"/>
            <a:ext cx="73152" cy="7315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9" name="Text 6"/>
          <p:cNvSpPr/>
          <p:nvPr/>
        </p:nvSpPr>
        <p:spPr>
          <a:xfrm>
            <a:off x="1078992" y="292608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start — established facilitator networks exist in nearly every source market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776472"/>
            <a:ext cx="73152" cy="7315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1" name="Text 8"/>
          <p:cNvSpPr/>
          <p:nvPr/>
        </p:nvSpPr>
        <p:spPr>
          <a:xfrm>
            <a:off x="1078992" y="361188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7.5–30% commission of package value, compressing margins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4462272"/>
            <a:ext cx="73152" cy="7315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Text 10"/>
          <p:cNvSpPr/>
          <p:nvPr/>
        </p:nvSpPr>
        <p:spPr>
          <a:xfrm>
            <a:off x="1078992" y="429768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Commoditised and competitive — no loyalty, no durable relationship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5148072"/>
            <a:ext cx="73152" cy="73152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498348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channel first, in any corridor: prove the model and fund Phase 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217920" y="196596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0B3D39"/>
          </a:solidFill>
          <a:ln w="25400">
            <a:solidFill>
              <a:srgbClr val="C6A15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37960" y="2286000"/>
            <a:ext cx="594360" cy="59436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8" name="Image 1" descr="/home/claude/deck/icons/handshake_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8199" y="2366239"/>
            <a:ext cx="433883" cy="43388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315200" y="23317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Institutional Channel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6537960" y="309067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1" name="Text 17"/>
          <p:cNvSpPr/>
          <p:nvPr/>
        </p:nvSpPr>
        <p:spPr>
          <a:xfrm>
            <a:off x="6748272" y="292608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through institutional relationships in the priority corridor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37960" y="377647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3" name="Text 19"/>
          <p:cNvSpPr/>
          <p:nvPr/>
        </p:nvSpPr>
        <p:spPr>
          <a:xfrm>
            <a:off x="6748272" y="361188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Pre-vetted, higher-trust, batched referrals — no commission drag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537960" y="446227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5" name="Text 21"/>
          <p:cNvSpPr/>
          <p:nvPr/>
        </p:nvSpPr>
        <p:spPr>
          <a:xfrm>
            <a:off x="6748272" y="429768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Materially higher margin per patient vs. the facilitator channel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537960" y="514807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7" name="Text 23"/>
          <p:cNvSpPr/>
          <p:nvPr/>
        </p:nvSpPr>
        <p:spPr>
          <a:xfrm>
            <a:off x="6748272" y="498348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to build — requires accreditation and proof points first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OUR PLAN OF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Roles, Lean From Day One, Own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Patient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240280"/>
            <a:ext cx="585216" cy="585216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6" name="Image 0" descr="/home/claude/deck/icons/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876" y="2319284"/>
            <a:ext cx="427208" cy="427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017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Intake &amp; Triage Coordinator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3886200"/>
            <a:ext cx="16824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inquiries, routes to specialists, issues cost estimates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2761488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2240280"/>
            <a:ext cx="585216" cy="585216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11" name="Image 1" descr="/home/claude/deck/icons/fi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724" y="2319284"/>
            <a:ext cx="427208" cy="427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8648" y="3017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Visa &amp; Documentation Officer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926080" y="3886200"/>
            <a:ext cx="16824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invitation letters and visa liaison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4974336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687568" y="2240280"/>
            <a:ext cx="585216" cy="585216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16" name="Image 2" descr="/home/claude/deck/icons/plan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572" y="2319284"/>
            <a:ext cx="427208" cy="4272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11496" y="3017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Concierge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38928" y="3886200"/>
            <a:ext cx="16824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pickup, accommodation, ground logistics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7187184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900416" y="2240280"/>
            <a:ext cx="585216" cy="585216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21" name="Image 3" descr="/home/claude/deck/icons/money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420" y="2319284"/>
            <a:ext cx="427208" cy="4272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24344" y="3017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Billing &amp; Package Manager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351776" y="3886200"/>
            <a:ext cx="16824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transparent, itemised, published pricing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9400032" y="196596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113264" y="2240280"/>
            <a:ext cx="585216" cy="585216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26" name="Image 4" descr="/home/claude/deck/icons/heartbeat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2268" y="2319284"/>
            <a:ext cx="427208" cy="4272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37192" y="3017520"/>
            <a:ext cx="1737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Follow-Up Coordinator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564624" y="3886200"/>
            <a:ext cx="16824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Post-discharge teleconsultations — the biggest trust driver</a:t>
            </a:r>
            <a:endParaRPr lang="en-US" sz="980" dirty="0"/>
          </a:p>
        </p:txBody>
      </p:sp>
      <p:sp>
        <p:nvSpPr>
          <p:cNvPr id="29" name="Text 22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Lean, but clearly owned, from Phase 0 — not an afterthought once patients start arriving.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· OUR PLAN OF ACTION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Could Go Wrong, and How We'll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04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 &amp; MITIGATIONS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overbilling reputation risk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Transparent, itemised, published pricing from day one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777240" y="30906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fee-splitting exposure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Written, disclosed commission agreements only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777240" y="398678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Single-relationship dependency in any corridor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427939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into a written institutional MoU as early as possible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777240" y="488289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Under-resourced IPD under real volume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517550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but clearly-owned function from Phase 0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126480" y="1600200"/>
            <a:ext cx="5513832" cy="4251960"/>
          </a:xfrm>
          <a:prstGeom prst="roundRect">
            <a:avLst>
              <a:gd name="adj" fmla="val 1720"/>
            </a:avLst>
          </a:prstGeom>
          <a:solidFill>
            <a:srgbClr val="0B3D39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830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WE'LL TRACK FROM DAY ONE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226771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2103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Inquiry-to-treatment-plan turnaround (target: under 72 hours)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299923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/>
          <p:nvPr/>
        </p:nvSpPr>
        <p:spPr>
          <a:xfrm>
            <a:off x="6565392" y="28346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Visa-application-to-arrival conversion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373075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35661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volume by channel — facilitator vs. institutional share, tracked monthly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446227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42976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package value and gross margin by procedure type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519379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50292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 referred-by-previous-patient volume — the best signal of a self-sustaining pipeline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6400800" cy="6400800"/>
          </a:xfrm>
          <a:prstGeom prst="ellipse">
            <a:avLst/>
          </a:prstGeom>
          <a:solidFill>
            <a:srgbClr val="0F5C5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5029200" cy="5029200"/>
          </a:xfrm>
          <a:prstGeom prst="ellipse">
            <a:avLst/>
          </a:prstGeom>
          <a:solidFill>
            <a:srgbClr val="C6A15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32004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Applying the Playbook: Uganda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434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7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First, the market on its own merits. Then — what makes us the right ones to enter it.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UGANDA — MARKET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 Million People, a System That Can't Keep 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83180" cy="1371600"/>
          </a:xfrm>
          <a:prstGeom prst="roundRect">
            <a:avLst>
              <a:gd name="adj" fmla="val 5333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~46M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308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Population, East Africa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06140" y="1691640"/>
            <a:ext cx="2583180" cy="1371600"/>
          </a:xfrm>
          <a:prstGeom prst="roundRect">
            <a:avLst>
              <a:gd name="adj" fmla="val 5333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6140" y="187452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~$52B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543300" y="2468880"/>
            <a:ext cx="2308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GDP, current prices (2024)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2583180" cy="1371600"/>
          </a:xfrm>
          <a:prstGeom prst="roundRect">
            <a:avLst>
              <a:gd name="adj" fmla="val 5333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87452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~$980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2468880"/>
            <a:ext cx="2308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per capita (rising toward lower-middle-income)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38260" y="1691640"/>
            <a:ext cx="2583180" cy="1371600"/>
          </a:xfrm>
          <a:prstGeom prst="roundRect">
            <a:avLst>
              <a:gd name="adj" fmla="val 5333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38260" y="1874520"/>
            <a:ext cx="24003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9075420" y="2468880"/>
            <a:ext cx="23088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2026 GDP growth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11064240" cy="2606040"/>
          </a:xfrm>
          <a:prstGeom prst="roundRect">
            <a:avLst>
              <a:gd name="adj" fmla="val 2807"/>
            </a:avLst>
          </a:prstGeom>
          <a:solidFill>
            <a:srgbClr val="0B3D3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42900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CONTEXT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3913632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9" name="Text 17"/>
          <p:cNvSpPr/>
          <p:nvPr/>
        </p:nvSpPr>
        <p:spPr>
          <a:xfrm>
            <a:off x="987552" y="37490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remains the economic mainstay: 24% of GDP, 72% of the labour force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389120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1" name="Text 19"/>
          <p:cNvSpPr/>
          <p:nvPr/>
        </p:nvSpPr>
        <p:spPr>
          <a:xfrm>
            <a:off x="987552" y="42245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 estimated at 51.5% (FY2024–25), declining but still high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864608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470001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oil exports begin in late 2026 (TotalEnergies / CNOOC partnership) — a genuine growth catalyst on the horizon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5340096"/>
            <a:ext cx="73152" cy="73152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517550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Landlocked, bordered by Kenya, Tanzania, DRC, Rwanda and South Sudan — a natural regional hub position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UGANDA — MARKET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Uganda's Healthcare System: Structure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Gap We'd Be Filling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977640"/>
          </a:xfrm>
          <a:prstGeom prst="roundRect">
            <a:avLst>
              <a:gd name="adj" fmla="val 1839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03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STRUCTURE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2587752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7" name="Text 5"/>
          <p:cNvSpPr/>
          <p:nvPr/>
        </p:nvSpPr>
        <p:spPr>
          <a:xfrm>
            <a:off x="987552" y="24231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~8,400 total health facilities nationally; 41% government, ~35–40% private / faith-based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" y="3364992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9" name="Text 7"/>
          <p:cNvSpPr/>
          <p:nvPr/>
        </p:nvSpPr>
        <p:spPr>
          <a:xfrm>
            <a:off x="987552" y="32004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Mulago National Referral Hospital: ~1,600 beds, Kampala, tertiary care, linked to Makerere University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4142232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3977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Regional Referral Hospitals provide secondary care across the country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919472"/>
            <a:ext cx="73152" cy="73152"/>
          </a:xfrm>
          <a:prstGeom prst="ellipse">
            <a:avLst/>
          </a:prstGeom>
          <a:solidFill>
            <a:srgbClr val="1F8A73"/>
          </a:solidFill>
          <a:ln/>
        </p:spPr>
      </p:sp>
      <p:sp>
        <p:nvSpPr>
          <p:cNvPr id="13" name="Text 11"/>
          <p:cNvSpPr/>
          <p:nvPr/>
        </p:nvSpPr>
        <p:spPr>
          <a:xfrm>
            <a:off x="987552" y="47548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spending: only 5.6–6.3% of GDP — well below the 15% Abuja Declaration target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920240"/>
            <a:ext cx="5513832" cy="3977640"/>
          </a:xfrm>
          <a:prstGeom prst="roundRect">
            <a:avLst>
              <a:gd name="adj" fmla="val 1839"/>
            </a:avLst>
          </a:prstGeom>
          <a:solidFill>
            <a:srgbClr val="0B3D39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2103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IN ONE NUMBER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55080" y="24231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6355080" y="31089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doctors per 1,000 people (~7,000 doctors for ~46M population) — roughly 15% of the WHO benchmark of ~1 per 1,000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55080" y="3977640"/>
            <a:ext cx="5029200" cy="0"/>
          </a:xfrm>
          <a:prstGeom prst="line">
            <a:avLst/>
          </a:prstGeom>
          <a:noFill/>
          <a:ln w="12700">
            <a:solidFill>
              <a:srgbClr val="1F6E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BURDEN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5080" y="443484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8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HIV: 5.1% adult prevalence (~1.4M living with HIV)  ·  Malaria: highly endemic  ·  TB: ~198/100,000  ·  Hypertension: 26–29% of adults, rising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UGANDA — MARKET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Ugandans Actually Pay for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BF3E7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21408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38–42%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017520" y="2121408"/>
            <a:ext cx="8366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Uganda's total health expenditure is paid out-of-pocket by patients — among the highest rates in East Africa, and the reality that self-pay and family-financed treatment will remain the dominant near-term payment mode.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7490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Health Insurance Scheme — still not law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by Parliament in March 2021, but President Museveni has never assented to it. As of 2026 it remains stalled, pending re-tabling — a real reform on the horizon, not a mechanism to plan around today.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3566160"/>
            <a:ext cx="5212080" cy="2331720"/>
          </a:xfrm>
          <a:prstGeom prst="roundRect">
            <a:avLst>
              <a:gd name="adj" fmla="val 3137"/>
            </a:avLst>
          </a:prstGeom>
          <a:solidFill>
            <a:srgbClr val="0B3D39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3749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today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46520" y="4133088"/>
            <a:ext cx="47548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health insurance covers ~5% of the population; community-based insurance ~0.2%. Medical crowdfunding for expensive treatment is common and normalised. Future oil revenue is discussed as a possible NHIS funding source.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UGANDA — MARKET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India–Uganda Corridor Already Exists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 We Didn't Invent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85416"/>
            <a:ext cx="82296" cy="8229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48256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2009 — India funds a telemedicine centre at Mulago National Referral Hospital, linking it to 11 partner hospitals in India.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935224"/>
            <a:ext cx="82296" cy="8229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798064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Uganda's Ministry of Health runs a formal medical-referral committee that reviews and approves patient travel abroad for cardiac, cancer, transplant, and complex orthopedic cases.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85032"/>
            <a:ext cx="82296" cy="8229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547872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Mulago's committee alone referred 225 patients to India between mid-2014 and early 2018.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82296" cy="8229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429768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Uganda's Auditor General has documented government spending in the tens of billions of shillings on treatment abroad, India consistently among the top destinations.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5184648"/>
            <a:ext cx="82296" cy="82296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5047488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historic Indian-origin business community in Uganda — disrupted by the 1972 expulsions, rebuilt since — gives the relationship cultural as well as clinical roots.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UGANDA — MARKET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Logistics Are Solvable: Politics,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Connectivity, and Visas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48640" cy="54864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6" name="Image 0" descr="/home/claude/deck/icons/scal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026" y="2314346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260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Political Environment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77240" y="3493008"/>
            <a:ext cx="64008" cy="6400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9" name="Text 6"/>
          <p:cNvSpPr/>
          <p:nvPr/>
        </p:nvSpPr>
        <p:spPr>
          <a:xfrm>
            <a:off x="950976" y="3337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15, 2026: Museveni (NRM) re-elected to a 7th term with 71.65% of the vote over Bobi Wine's 24.72%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777240" y="4334256"/>
            <a:ext cx="64008" cy="6400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1" name="Text 8"/>
          <p:cNvSpPr/>
          <p:nvPr/>
        </p:nvSpPr>
        <p:spPr>
          <a:xfrm>
            <a:off x="950976" y="417880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observers, including the US Senate and Human Rights Watch, criticised the election as marred by repression and an internet shutdown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777240" y="5175504"/>
            <a:ext cx="64008" cy="6400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3" name="Text 10"/>
          <p:cNvSpPr/>
          <p:nvPr/>
        </p:nvSpPr>
        <p:spPr>
          <a:xfrm>
            <a:off x="950976" y="50200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read: continuity of the same administration, alongside real international scrutiny — both worth planning for</a:t>
            </a:r>
            <a:endParaRPr lang="en-US" sz="980" dirty="0"/>
          </a:p>
        </p:txBody>
      </p:sp>
      <p:sp>
        <p:nvSpPr>
          <p:cNvPr id="14" name="Shape 11"/>
          <p:cNvSpPr/>
          <p:nvPr/>
        </p:nvSpPr>
        <p:spPr>
          <a:xfrm>
            <a:off x="4343400" y="19659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2240280"/>
            <a:ext cx="548640" cy="54864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16" name="Image 1" descr="/home/claude/deck/icons/plan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786" y="2314346"/>
            <a:ext cx="400507" cy="40050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72000" y="29260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Connectivity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4572000" y="3493008"/>
            <a:ext cx="64008" cy="6400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19" name="Text 15"/>
          <p:cNvSpPr/>
          <p:nvPr/>
        </p:nvSpPr>
        <p:spPr>
          <a:xfrm>
            <a:off x="4745736" y="3337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Entebbe–Hyderabad flights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4572000" y="4334256"/>
            <a:ext cx="64008" cy="6400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1" name="Text 17"/>
          <p:cNvSpPr/>
          <p:nvPr/>
        </p:nvSpPr>
        <p:spPr>
          <a:xfrm>
            <a:off x="4745736" y="417880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~11–12 hours one-stop via Addis Ababa (Ethiopian), Doha (Qatar), or Dubai (Emirates / Flydubai)</a:t>
            </a:r>
            <a:endParaRPr lang="en-US" sz="980" dirty="0"/>
          </a:p>
        </p:txBody>
      </p:sp>
      <p:sp>
        <p:nvSpPr>
          <p:cNvPr id="22" name="Shape 18"/>
          <p:cNvSpPr/>
          <p:nvPr/>
        </p:nvSpPr>
        <p:spPr>
          <a:xfrm>
            <a:off x="4572000" y="5175504"/>
            <a:ext cx="64008" cy="6400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3" name="Text 19"/>
          <p:cNvSpPr/>
          <p:nvPr/>
        </p:nvSpPr>
        <p:spPr>
          <a:xfrm>
            <a:off x="4745736" y="50200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Airlines flies direct Entebbe–Mumbai as an alternate gateway</a:t>
            </a:r>
            <a:endParaRPr lang="en-US" sz="980" dirty="0"/>
          </a:p>
        </p:txBody>
      </p:sp>
      <p:sp>
        <p:nvSpPr>
          <p:cNvPr id="24" name="Shape 20"/>
          <p:cNvSpPr/>
          <p:nvPr/>
        </p:nvSpPr>
        <p:spPr>
          <a:xfrm>
            <a:off x="8138160" y="196596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1F8A73"/>
          </a:solidFill>
          <a:ln/>
        </p:spPr>
      </p:sp>
      <p:pic>
        <p:nvPicPr>
          <p:cNvPr id="26" name="Image 2" descr="/home/claude/deck/icons/passpor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546" y="2314346"/>
            <a:ext cx="400507" cy="400507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366760" y="29260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Visas</a:t>
            </a:r>
            <a:endParaRPr lang="en-US" sz="1450" dirty="0"/>
          </a:p>
        </p:txBody>
      </p:sp>
      <p:sp>
        <p:nvSpPr>
          <p:cNvPr id="28" name="Shape 23"/>
          <p:cNvSpPr/>
          <p:nvPr/>
        </p:nvSpPr>
        <p:spPr>
          <a:xfrm>
            <a:off x="8366760" y="3493008"/>
            <a:ext cx="64008" cy="6400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29" name="Text 24"/>
          <p:cNvSpPr/>
          <p:nvPr/>
        </p:nvSpPr>
        <p:spPr>
          <a:xfrm>
            <a:off x="8540496" y="3337560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e-Medical Visa + e-Medical Attendant Visa available to Ugandan nationals</a:t>
            </a:r>
            <a:endParaRPr lang="en-US" sz="980" dirty="0"/>
          </a:p>
        </p:txBody>
      </p:sp>
      <p:sp>
        <p:nvSpPr>
          <p:cNvPr id="30" name="Shape 25"/>
          <p:cNvSpPr/>
          <p:nvPr/>
        </p:nvSpPr>
        <p:spPr>
          <a:xfrm>
            <a:off x="8366760" y="4334256"/>
            <a:ext cx="64008" cy="6400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1" name="Text 26"/>
          <p:cNvSpPr/>
          <p:nvPr/>
        </p:nvSpPr>
        <p:spPr>
          <a:xfrm>
            <a:off x="8540496" y="4178808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typically 5–10 working days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8366760" y="5175504"/>
            <a:ext cx="64008" cy="64008"/>
          </a:xfrm>
          <a:prstGeom prst="ellipse">
            <a:avLst/>
          </a:prstGeom>
          <a:solidFill>
            <a:srgbClr val="C6A15B"/>
          </a:solidFill>
          <a:ln/>
        </p:spPr>
      </p:sp>
      <p:sp>
        <p:nvSpPr>
          <p:cNvPr id="33" name="Text 28"/>
          <p:cNvSpPr/>
          <p:nvPr/>
        </p:nvSpPr>
        <p:spPr>
          <a:xfrm>
            <a:off x="8540496" y="5020056"/>
            <a:ext cx="2926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 is yellow-fever-endemic — a valid vaccination card is mandatory on arrival</a:t>
            </a:r>
            <a:endParaRPr lang="en-US" sz="980" dirty="0"/>
          </a:p>
        </p:txBody>
      </p:sp>
      <p:sp>
        <p:nvSpPr>
          <p:cNvPr id="34" name="Text 2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UGANDA — MARKET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Is Already Proven — By Everyone Except 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evidence the demand is real — and a map of the field before we discuss our own position in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231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Chains with a Physical Presence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337560"/>
            <a:ext cx="2971800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5204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Shalby Hospitals operates directly across Kenya, Tanzania, Ethiopia, and Uganda — a working template for an Indian chain's East Africa footprint.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21488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4231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Facilitators Actively Marketing to Uganda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617720" y="3337560"/>
            <a:ext cx="2971800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5204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Tour2india4health, CMCS Health, HBG Medical Assistance, My1Health, Wellness Destination India, and others run established Uganda-facing patient pipelines today.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2148840"/>
            <a:ext cx="3520440" cy="3566160"/>
          </a:xfrm>
          <a:prstGeom prst="roundRect">
            <a:avLst>
              <a:gd name="adj" fmla="val 20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2423160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Large Chains with Brand Recognition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412480" y="3337560"/>
            <a:ext cx="2971800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0" y="3520440"/>
            <a:ext cx="2971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and Yashoda carry general brand awareness among African patients, without a dedicated Uganda institutional relationship.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OUR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What We Bring That Nobody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 in This Field Has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31720"/>
            <a:ext cx="685800" cy="68580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6" name="Image 0" descr="/home/claude/deck/icons/hospital_dark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263" y="2424303"/>
            <a:ext cx="500634" cy="5006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2461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Base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100-bed multi-specialty hospital already running cardiology, orthopedics, nephrology, dialysis, and ICU/NICU care — the exact specialties Ugandan patients travel abroad for.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2331720"/>
            <a:ext cx="685800" cy="68580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1" name="Image 1" descr="/home/claude/deck/icons/hotel_dark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023" y="2424303"/>
            <a:ext cx="500634" cy="5006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63440" y="32461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Integration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63440" y="38404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D9E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Dhanturi Group's hotels solve the #1 patient complaint in this corridor — accommodation, food, and comfort during a 1–3 week recovery stay — natively, not outsourced.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C6A15B"/>
          </a:solidFill>
          <a:ln/>
        </p:spPr>
      </p:sp>
      <p:sp>
        <p:nvSpPr>
          <p:cNvPr id="15" name="Shape 11"/>
          <p:cNvSpPr/>
          <p:nvPr/>
        </p:nvSpPr>
        <p:spPr>
          <a:xfrm>
            <a:off x="8458200" y="2331720"/>
            <a:ext cx="685800" cy="685800"/>
          </a:xfrm>
          <a:prstGeom prst="ellipse">
            <a:avLst/>
          </a:prstGeom>
          <a:solidFill>
            <a:srgbClr val="0B3D39"/>
          </a:solidFill>
          <a:ln/>
        </p:spPr>
      </p:sp>
      <p:pic>
        <p:nvPicPr>
          <p:cNvPr id="16" name="Image 2" descr="/home/claude/deck/icons/handshake_dark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783" y="2424303"/>
            <a:ext cx="500634" cy="5006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58200" y="32461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Direct Government Relationship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458200" y="384048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D2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 family member's prior professional experience in Uganda has built real standing with Ugandan government contacts — a potential institutional referral channel none of the players on the previous slide have.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referrals, once formalised, run at zero facilitator commission — turning this relationship into the single highest-leverage asset in this entire plan.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OUR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Case, In Four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99616" y="2286000"/>
            <a:ext cx="640080" cy="640080"/>
          </a:xfrm>
          <a:prstGeom prst="ellipse">
            <a:avLst/>
          </a:prstGeom>
          <a:solidFill>
            <a:srgbClr val="0F5C52"/>
          </a:solidFill>
          <a:ln/>
        </p:spPr>
      </p:sp>
      <p:pic>
        <p:nvPicPr>
          <p:cNvPr id="6" name="Image 0" descr="/home/claude/deck/icons/mon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027" y="2372411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15468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 Cr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2176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Year-0 investment required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46704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97680" y="2286000"/>
            <a:ext cx="640080" cy="640080"/>
          </a:xfrm>
          <a:prstGeom prst="ellipse">
            <a:avLst/>
          </a:prstGeom>
          <a:solidFill>
            <a:srgbClr val="0F5C52"/>
          </a:solidFill>
          <a:ln/>
        </p:spPr>
      </p:sp>
      <p:pic>
        <p:nvPicPr>
          <p:cNvPr id="11" name="Image 1" descr="/home/claude/deck/icons/tren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4091" y="2372411"/>
            <a:ext cx="467258" cy="4672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38144" y="315468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₹29.0 Cr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29584" y="3840480"/>
            <a:ext cx="2176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cumulative revenue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44768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095744" y="2286000"/>
            <a:ext cx="640080" cy="640080"/>
          </a:xfrm>
          <a:prstGeom prst="ellipse">
            <a:avLst/>
          </a:prstGeom>
          <a:solidFill>
            <a:srgbClr val="0F5C52"/>
          </a:solidFill>
          <a:ln/>
        </p:spPr>
      </p:sp>
      <p:pic>
        <p:nvPicPr>
          <p:cNvPr id="16" name="Image 2" descr="/home/claude/deck/icons/chartpi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2155" y="2372411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36208" y="315468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₹6.1 Cr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327648" y="3840480"/>
            <a:ext cx="2176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cumulative EBITDA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942832" y="1965960"/>
            <a:ext cx="2542032" cy="3246120"/>
          </a:xfrm>
          <a:prstGeom prst="roundRect">
            <a:avLst>
              <a:gd name="adj" fmla="val 2878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893808" y="2286000"/>
            <a:ext cx="640080" cy="640080"/>
          </a:xfrm>
          <a:prstGeom prst="ellipse">
            <a:avLst/>
          </a:prstGeom>
          <a:solidFill>
            <a:srgbClr val="0F5C52"/>
          </a:solidFill>
          <a:ln/>
        </p:spPr>
      </p:sp>
      <p:pic>
        <p:nvPicPr>
          <p:cNvPr id="21" name="Image 3" descr="/home/claude/deck/icons/clo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0219" y="2372411"/>
            <a:ext cx="467258" cy="4672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34272" y="3154680"/>
            <a:ext cx="2359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3D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22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125712" y="3840480"/>
            <a:ext cx="217627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Break-even, early in Year 2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5321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Base-case planning estimate — see appendix financial model for full assumptions, monthly build, and sensitivity analysis.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OUR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Investment to Compounding Returns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108813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OUR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Institutional Channel Is Worth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Patiently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210312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2148840"/>
            <a:ext cx="4480560" cy="3749040"/>
          </a:xfrm>
          <a:prstGeom prst="roundRect">
            <a:avLst>
              <a:gd name="adj" fmla="val 1951"/>
            </a:avLst>
          </a:prstGeom>
          <a:solidFill>
            <a:srgbClr val="F7F9F8"/>
          </a:solidFill>
          <a:ln w="12700">
            <a:solidFill>
              <a:srgbClr val="E1E7E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5236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package price: ₹7.5 lakh (~$8,750)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52360" y="2788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commission: 20% of package value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52360" y="3246120"/>
            <a:ext cx="3931920" cy="0"/>
          </a:xfrm>
          <a:prstGeom prst="line">
            <a:avLst/>
          </a:prstGeom>
          <a:noFill/>
          <a:ln w="12700">
            <a:solidFill>
              <a:srgbClr val="E1E7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3429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₹1.5 lakh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452360" y="40233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advantage per patient when sourced through the institutional channel instead of a facilitator.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452360" y="50292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i="1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direct financial value of the Uganda government relationship — it compounds with every institutionally-referred patient.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OUR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Resilient Even in the Conservative Case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18288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828800"/>
            <a:ext cx="3794760" cy="4206240"/>
          </a:xfrm>
          <a:prstGeom prst="roundRect">
            <a:avLst>
              <a:gd name="adj" fmla="val 1928"/>
            </a:avLst>
          </a:prstGeom>
          <a:solidFill>
            <a:srgbClr val="0B3D39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2057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LEVERS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138160" y="251460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8160" y="280720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0.65x volume · 90% price realisation · 1.15x fixed costs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138160" y="356616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385876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Roadmap-assumed volume ramp and published pricing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4617720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4910328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1.35x volume · 105% price realisation · 1.05x fixed costs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 · OUR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Uganda Is the First Proof Point, Not the Last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Uganda corridor is proven, the same four-phase playbook from Part Two replicates — not reinvents — across adjacent markets.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21488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21488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Tanzania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21488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1488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Rwanda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269480" y="21488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69480" y="21488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Burundi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509760" y="2148840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0" y="2148840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 Sudan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18211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8211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Ethiopia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788920" y="318211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318211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Zambia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0" y="318211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18211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Zimbabwe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269480" y="318211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69480" y="318211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509760" y="3182112"/>
            <a:ext cx="2103120" cy="868680"/>
          </a:xfrm>
          <a:prstGeom prst="roundRect">
            <a:avLst>
              <a:gd name="adj" fmla="val 6316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0" y="3182112"/>
            <a:ext cx="2103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 East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8640" y="4434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Sequencing, prioritisation, and market-specific due diligence for each of these is a separate research phase — undertaken only once Uganda's Phase 2 (accreditation) is complete.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Move to Phase 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88820" y="2286000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6" name="Image 0" descr="/home/claude/deck/icons/target_dark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231" y="2372411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546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₹1.4 Cr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77240" y="37947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Year-0 capital commitment for accreditation, IPD build-out, and Dhanturi hotel refurbishment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83580" y="2286000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1" name="Image 1" descr="/home/claude/deck/icons/handshake_darkt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9991" y="2372411"/>
            <a:ext cx="467258" cy="4672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1546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 Endorsement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72000" y="37947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formally engage the Uganda relationship as an institutional channel, not an informal favour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0F4D46"/>
          </a:solidFill>
          <a:ln w="12700">
            <a:solidFill>
              <a:srgbClr val="1F6E6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578340" y="2286000"/>
            <a:ext cx="640080" cy="640080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6" name="Image 2" descr="/home/claude/deck/icons/gears_darkt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4751" y="2372411"/>
            <a:ext cx="467258" cy="4672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154680"/>
            <a:ext cx="3246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Mandate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366760" y="379476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7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to appoint an IPD owner and begin the NABH engagement immediately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55778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return: a proven, phased plan with a Year-2 break-even and a defensible, differentiated position in a corridor no competitor has locked down.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3D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F5C5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828800"/>
            <a:ext cx="4572000" cy="4572000"/>
          </a:xfrm>
          <a:prstGeom prst="ellipse">
            <a:avLst/>
          </a:prstGeom>
          <a:solidFill>
            <a:srgbClr val="C6A15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HYDERABAD HOSPITAL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East Africa's Most Trusted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Care Partner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CFE7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excellence. Institutional trust. Genuine hospitality.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CFE7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family relationship, not a facilitator fee.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577840"/>
            <a:ext cx="2011680" cy="0"/>
          </a:xfrm>
          <a:prstGeom prst="line">
            <a:avLst/>
          </a:prstGeom>
          <a:noFill/>
          <a:ln w="25400">
            <a:solidFill>
              <a:srgbClr val="C6A1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760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F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SUPRAJA HOSPITALS  ·  DHANTURI GROUP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Supraja Hospitals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Tourism: Industry, Plan of Action &amp; the Uganda Opportunity</dc:title>
  <dc:subject>PptxGenJS Presentation</dc:subject>
  <dc:creator>Supraja Hospitals / Dhanturi Group</dc:creator>
  <cp:lastModifiedBy>Supraja Hospitals / Dhanturi Group</cp:lastModifiedBy>
  <cp:revision>1</cp:revision>
  <dcterms:created xsi:type="dcterms:W3CDTF">2026-07-20T20:18:36Z</dcterms:created>
  <dcterms:modified xsi:type="dcterms:W3CDTF">2026-07-20T20:18:36Z</dcterms:modified>
</cp:coreProperties>
</file>